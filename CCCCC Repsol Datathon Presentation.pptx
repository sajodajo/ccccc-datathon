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svg" ContentType="image/svg+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4"/>
  </p:notesMasterIdLst>
  <p:sldSz cx="12192000" cy="6858000" type="custom"/>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3"/>
  </p:normalViewPr>
  <p:slideViewPr>
    <p:cSldViewPr snapToGrid="0" snapToObjects="1">
      <p:cViewPr varScale="1">
        <p:scale>
          <a:sx n="119" d="100"/>
          <a:sy n="119" d="100"/>
        </p:scale>
        <p:origin x="3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  <Relationship Id="rId1" Target="slideMasters/slideMaster1.xml" Type="http://schemas.openxmlformats.org/officeDocument/2006/relationships/slideMaster"/>  <Relationship Id="rId2" Target="slides/slide1.xml" Type="http://schemas.openxmlformats.org/officeDocument/2006/relationships/slide"/>  <Relationship Id="rId3" Target="slides/slide2.xml" Type="http://schemas.openxmlformats.org/officeDocument/2006/relationships/slide"/>  <Relationship Id="rId4" Target="slides/slide3.xml" Type="http://schemas.openxmlformats.org/officeDocument/2006/relationships/slide"/>  <Relationship Id="rId5" Target="slides/slide4.xml" Type="http://schemas.openxmlformats.org/officeDocument/2006/relationships/slide"/>  <Relationship Id="rId6" Target="slides/slide5.xml" Type="http://schemas.openxmlformats.org/officeDocument/2006/relationships/slide"/>  <Relationship Id="rId7" Target="slides/slide6.xml" Type="http://schemas.openxmlformats.org/officeDocument/2006/relationships/slide"/>  <Relationship Id="rId8" Target="slides/slide7.xml" Type="http://schemas.openxmlformats.org/officeDocument/2006/relationships/slide"/>  <Relationship Id="rId9" Target="slides/slide8.xml" Type="http://schemas.openxmlformats.org/officeDocument/2006/relationships/slide"/>  <Relationship Id="rId10" Type="http://schemas.openxmlformats.org/officeDocument/2006/relationships/presProps" Target="presProps.xml"/>  <Relationship Id="rId11" Type="http://schemas.openxmlformats.org/officeDocument/2006/relationships/viewProps" Target="viewProps.xml"/>  <Relationship Id="rId12" Type="http://schemas.openxmlformats.org/officeDocument/2006/relationships/theme" Target="theme/theme1.xml"/>  <Relationship Id="rId13" Type="http://schemas.openxmlformats.org/officeDocument/2006/relationships/tableStyles" Target="tableStyles.xml"/>  <Relationship Id="rId14" Type="http://schemas.openxmlformats.org/officeDocument/2006/relationships/notesMaster" Target="notesMasters/notesMaster1.xml"/></Relationships>
</file>

<file path=ppt/notesMasters/_rels/notesMaster1.xml.rels><?xml version="1.0" encoding="UTF-8"?>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smtClean="0"/>
              <a:t>6/20/18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smtClean="0"/>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ustDataLst/>
  </p:cSld>
  <p:clrMapOvr>
    <a:masterClrMapping/>
  </p:clrMapOvr>
</p:sldLayout>
</file>

<file path=ppt/slideMasters/_rels/slideMaster1.xml.rels><?xml version="1.0" encoding="UTF-8" standalone="yes"?><Relationships xmlns="http://schemas.openxmlformats.org/package/2006/relationships"><Relationship Id="rId1" Target="../slideLayouts/slideLayout1.xml" Type="http://schemas.openxmlformats.org/officeDocument/2006/relationships/slideLayout"/><Relationship Id="rId2"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media/image1.png" Type="http://schemas.openxmlformats.org/officeDocument/2006/relationships/image"/><Relationship Id="rId2" Target="../media/image2.svg" Type="http://schemas.openxmlformats.org/officeDocument/2006/relationships/image"/><Relationship Id="rId3" Target="../media/image3.png" Type="http://schemas.openxmlformats.org/officeDocument/2006/relationships/image"/><Relationship Id="rId4" Target="../slideLayouts/slideLayout1.xml" Type="http://schemas.openxmlformats.org/officeDocument/2006/relationships/slideLayout"/><Relationship Id="rId5" Target="../notesSlides/notesSlide1.xml" Type="http://schemas.openxmlformats.org/officeDocument/2006/relationships/notesSlide"/></Relationships>
</file>

<file path=ppt/slides/_rels/slide2.xml.rels><?xml version="1.0" encoding="UTF-8" standalone="yes"?><Relationships xmlns="http://schemas.openxmlformats.org/package/2006/relationships"><Relationship Id="rId1" Target="../media/image4.png" Type="http://schemas.openxmlformats.org/officeDocument/2006/relationships/image"/><Relationship Id="rId2" Target="../media/image5.sv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slideLayouts/slideLayout1.xml" Type="http://schemas.openxmlformats.org/officeDocument/2006/relationships/slideLayout"/><Relationship Id="rId8" Target="../notesSlides/notesSlide2.xml" Type="http://schemas.openxmlformats.org/officeDocument/2006/relationships/notesSlide"/></Relationships>
</file>

<file path=ppt/slides/_rels/slide3.xml.rels><?xml version="1.0" encoding="UTF-8" standalone="yes"?><Relationships xmlns="http://schemas.openxmlformats.org/package/2006/relationships"><Relationship Id="rId1" Target="../media/image10.png" Type="http://schemas.openxmlformats.org/officeDocument/2006/relationships/image"/><Relationship Id="rId2" Target="../media/image11.sv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slideLayouts/slideLayout1.xml" Type="http://schemas.openxmlformats.org/officeDocument/2006/relationships/slideLayout"/><Relationship Id="rId8" Target="../notesSlides/notesSlide3.xml" Type="http://schemas.openxmlformats.org/officeDocument/2006/relationships/notesSlide"/></Relationships>
</file>

<file path=ppt/slides/_rels/slide4.xml.rels><?xml version="1.0" encoding="UTF-8" standalone="yes"?><Relationships xmlns="http://schemas.openxmlformats.org/package/2006/relationships"><Relationship Id="rId1" Target="../media/image16.png" Type="http://schemas.openxmlformats.org/officeDocument/2006/relationships/image"/><Relationship Id="rId2" Target="../media/image17.sv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4.png" Type="http://schemas.openxmlformats.org/officeDocument/2006/relationships/image"/><Relationship Id="rId10" Target="../media/image25.sv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13" Target="../media/image28.png" Type="http://schemas.openxmlformats.org/officeDocument/2006/relationships/image"/><Relationship Id="rId14" Target="../media/image29.svg" Type="http://schemas.openxmlformats.org/officeDocument/2006/relationships/image"/><Relationship Id="rId15" Target="../slideLayouts/slideLayout1.xml" Type="http://schemas.openxmlformats.org/officeDocument/2006/relationships/slideLayout"/><Relationship Id="rId16" Target="../notesSlides/notesSlide4.xml" Type="http://schemas.openxmlformats.org/officeDocument/2006/relationships/notesSlide"/></Relationships>
</file>

<file path=ppt/slides/_rels/slide5.xml.rels><?xml version="1.0" encoding="UTF-8" standalone="yes"?><Relationships xmlns="http://schemas.openxmlformats.org/package/2006/relationships"><Relationship Id="rId1" Target="../media/image30.png" Type="http://schemas.openxmlformats.org/officeDocument/2006/relationships/image"/><Relationship Id="rId2" Target="../media/image31.svg" Type="http://schemas.openxmlformats.org/officeDocument/2006/relationships/image"/><Relationship Id="rId3" Target="../slideLayouts/slideLayout1.xml" Type="http://schemas.openxmlformats.org/officeDocument/2006/relationships/slideLayout"/><Relationship Id="rId4" Target="../notesSlides/notesSlide5.xml" Type="http://schemas.openxmlformats.org/officeDocument/2006/relationships/notesSlide"/></Relationships>
</file>

<file path=ppt/slides/_rels/slide6.xml.rels><?xml version="1.0" encoding="UTF-8" standalone="yes"?><Relationships xmlns="http://schemas.openxmlformats.org/package/2006/relationships"><Relationship Id="rId1" Target="../media/image32.png" Type="http://schemas.openxmlformats.org/officeDocument/2006/relationships/image"/><Relationship Id="rId2" Target="../media/image33.svg" Type="http://schemas.openxmlformats.org/officeDocument/2006/relationships/image"/><Relationship Id="rId3" Target="../slideLayouts/slideLayout1.xml" Type="http://schemas.openxmlformats.org/officeDocument/2006/relationships/slideLayout"/><Relationship Id="rId4" Target="../notesSlides/notesSlide6.xml" Type="http://schemas.openxmlformats.org/officeDocument/2006/relationships/notesSlide"/></Relationships>
</file>

<file path=ppt/slides/_rels/slide7.xml.rels><?xml version="1.0" encoding="UTF-8" standalone="yes"?><Relationships xmlns="http://schemas.openxmlformats.org/package/2006/relationships"><Relationship Id="rId1" Target="../media/image34.png" Type="http://schemas.openxmlformats.org/officeDocument/2006/relationships/image"/><Relationship Id="rId2" Target="../media/image35.sv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2.png" Type="http://schemas.openxmlformats.org/officeDocument/2006/relationships/image"/><Relationship Id="rId10" Target="../media/image43.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13" Target="../media/image46.png" Type="http://schemas.openxmlformats.org/officeDocument/2006/relationships/image"/><Relationship Id="rId14" Target="../media/image47.svg" Type="http://schemas.openxmlformats.org/officeDocument/2006/relationships/image"/><Relationship Id="rId15" Target="../media/image48.png" Type="http://schemas.openxmlformats.org/officeDocument/2006/relationships/image"/><Relationship Id="rId16" Target="../media/image49.svg" Type="http://schemas.openxmlformats.org/officeDocument/2006/relationships/image"/><Relationship Id="rId17" Target="../media/image50.png" Type="http://schemas.openxmlformats.org/officeDocument/2006/relationships/image"/><Relationship Id="rId18" Target="../media/image51.svg" Type="http://schemas.openxmlformats.org/officeDocument/2006/relationships/image"/><Relationship Id="rId19" Target="../slideLayouts/slideLayout1.xml" Type="http://schemas.openxmlformats.org/officeDocument/2006/relationships/slideLayout"/><Relationship Id="rId20" Target="../notesSlides/notesSlide7.xml" Type="http://schemas.openxmlformats.org/officeDocument/2006/relationships/notesSlide"/></Relationships>
</file>

<file path=ppt/slides/_rels/slide8.xml.rels><?xml version="1.0" encoding="UTF-8" standalone="yes"?><Relationships xmlns="http://schemas.openxmlformats.org/package/2006/relationships"><Relationship Id="rId1" Target="../media/image52.png" Type="http://schemas.openxmlformats.org/officeDocument/2006/relationships/image"/><Relationship Id="rId2" Target="../slideLayouts/slideLayout1.xml" Type="http://schemas.openxmlformats.org/officeDocument/2006/relationships/slideLayout"/><Relationship Id="rId3" Target="../notesSlides/notesSlide8.xml" Type="http://schemas.openxmlformats.org/officeDocument/2006/relationships/notesSlide"/></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0309"/>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961784"/>
            <a:ext cx="12198475" cy="4942239"/>
          </a:xfrm>
          <a:prstGeom prst="rect">
            <a:avLst/>
          </a:prstGeom>
        </p:spPr>
      </p:pic>
      <p:sp>
        <p:nvSpPr>
          <p:cNvPr id="3" name="Object 2"/>
          <p:cNvSpPr/>
          <p:nvPr/>
        </p:nvSpPr>
        <p:spPr>
          <a:xfrm>
            <a:off x="6094476" y="1221375"/>
            <a:ext cx="5871280" cy="2961435"/>
          </a:xfrm>
          <a:prstGeom prst="rect">
            <a:avLst/>
          </a:prstGeom>
          <a:noFill/>
        </p:spPr>
        <p:txBody>
          <a:bodyPr wrap="square" rtlCol="0" anchor="ctr" bIns="0" lIns="0" rIns="0" tIns="0"/>
          <a:lstStyle/>
          <a:p>
            <a:pPr algn="l">
              <a:lnSpc>
                <a:spcPts val="4666"/>
              </a:lnSpc>
              <a:buNone/>
            </a:pPr>
            <a:r>
              <a:rPr lang="en-US" b="1" sz="4050" spc="41" kern="0" dirty="0" smtClean="0">
                <a:solidFill>
                  <a:srgbClr val="ffffff"/>
                </a:solidFill>
                <a:latin typeface="Lato" pitchFamily="34" charset="0"/>
                <a:ea typeface="Lato" pitchFamily="34" charset="-122"/>
                <a:cs typeface="Lato" pitchFamily="34" charset="-120"/>
              </a:rPr>
              <a:t>OPTIMIZING SOLAR POWER GENERATION AND BATTERY USAGE FOR SUSTAINABILITY</a:t>
            </a:r>
            <a:endParaRPr lang="en-US" dirty="0"/>
          </a:p>
        </p:txBody>
      </p:sp>
      <p:sp>
        <p:nvSpPr>
          <p:cNvPr id="4" name="Object 3"/>
          <p:cNvSpPr/>
          <p:nvPr/>
        </p:nvSpPr>
        <p:spPr>
          <a:xfrm>
            <a:off x="6094476" y="4374949"/>
            <a:ext cx="5928782" cy="333192"/>
          </a:xfrm>
          <a:prstGeom prst="rect">
            <a:avLst/>
          </a:prstGeom>
          <a:noFill/>
        </p:spPr>
        <p:txBody>
          <a:bodyPr wrap="square" rtlCol="0" anchor="ctr" bIns="0" lIns="0" rIns="0" tIns="0"/>
          <a:lstStyle/>
          <a:p>
            <a:pPr algn="l">
              <a:lnSpc>
                <a:spcPts val="2624"/>
              </a:lnSpc>
              <a:spcBef>
                <a:spcPts val="1483"/>
              </a:spcBef>
              <a:buNone/>
            </a:pPr>
            <a:r>
              <a:rPr lang="en-US" sz="1823" spc="37" kern="0" dirty="0" smtClean="0">
                <a:solidFill>
                  <a:srgbClr val="ffffff">
                    <a:alpha val="80000"/>
                  </a:srgbClr>
                </a:solidFill>
                <a:latin typeface="Lato" pitchFamily="34" charset="0"/>
                <a:ea typeface="Lato" pitchFamily="34" charset="-122"/>
                <a:cs typeface="Lato" pitchFamily="34" charset="-120"/>
              </a:rPr>
              <a:t>by the Celtic Curry Condor Crescent Coders:</a:t>
            </a:r>
            <a:endParaRPr lang="en-US" dirty="0"/>
          </a:p>
        </p:txBody>
      </p:sp>
      <p:sp>
        <p:nvSpPr>
          <p:cNvPr id="5" name="Object 4"/>
          <p:cNvSpPr/>
          <p:nvPr/>
        </p:nvSpPr>
        <p:spPr>
          <a:xfrm>
            <a:off x="6094476" y="4922401"/>
            <a:ext cx="5928782" cy="666385"/>
          </a:xfrm>
          <a:prstGeom prst="rect">
            <a:avLst/>
          </a:prstGeom>
          <a:noFill/>
        </p:spPr>
        <p:txBody>
          <a:bodyPr wrap="square" rtlCol="0" anchor="ctr" bIns="0" lIns="0" rIns="0" tIns="0"/>
          <a:lstStyle/>
          <a:p>
            <a:pPr algn="l">
              <a:lnSpc>
                <a:spcPts val="2624"/>
              </a:lnSpc>
              <a:spcBef>
                <a:spcPts val="1654"/>
              </a:spcBef>
              <a:buNone/>
            </a:pPr>
            <a:r>
              <a:rPr lang="en-US" sz="1823" spc="37" kern="0" dirty="0" smtClean="0">
                <a:solidFill>
                  <a:srgbClr val="ffffff">
                    <a:alpha val="80000"/>
                  </a:srgbClr>
                </a:solidFill>
                <a:latin typeface="Lato" pitchFamily="34" charset="0"/>
                <a:ea typeface="Lato" pitchFamily="34" charset="-122"/>
                <a:cs typeface="Lato" pitchFamily="34" charset="-120"/>
              </a:rPr>
              <a:t>Isaac Chaljub, Pablo Gallegos, Sam Jones, Sanjo Joy, Adam Kassab </a:t>
            </a:r>
            <a:endParaRPr lang="en-US" dirty="0"/>
          </a:p>
        </p:txBody>
      </p:sp>
      <p:sp>
        <p:nvSpPr>
          <p:cNvPr id="6" name="Object 5"/>
          <p:cNvSpPr/>
          <p:nvPr/>
        </p:nvSpPr>
        <p:spPr>
          <a:xfrm>
            <a:off x="0" y="0"/>
            <a:ext cx="5713571" cy="6856286"/>
          </a:xfrm>
          <a:prstGeom prst="rect">
            <a:avLst/>
          </a:prstGeom>
          <a:solidFill>
            <a:srgbClr val="000000">
              <a:alpha val="0000"/>
            </a:srgbClr>
          </a:solidFill>
        </p:spPr>
      </p:sp>
      <p:pic>
        <p:nvPicPr>
          <p:cNvPr id="7" name="Object 6" descr="Repsol">    </p:cNvPr>
          <p:cNvPicPr>
            <a:picLocks noChangeAspect="1"/>
          </p:cNvPicPr>
          <p:nvPr/>
        </p:nvPicPr>
        <p:blipFill>
          <a:blip r:embed="rId3"/>
          <a:srcRect l="26562" r="26563" t="0" b="0"/>
          <a:stretch/>
        </p:blipFill>
        <p:spPr>
          <a:xfrm>
            <a:off x="0" y="0"/>
            <a:ext cx="5713571" cy="6856286"/>
          </a:xfrm>
          <a:prstGeom prst="rect">
            <a:avLst/>
          </a:prstGeom>
        </p:spPr>
      </p:pic>
    </p:spTree>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9f8"/>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52244"/>
            <a:ext cx="6846763" cy="1066533"/>
          </a:xfrm>
          <a:prstGeom prst="rect">
            <a:avLst/>
          </a:prstGeom>
        </p:spPr>
      </p:pic>
      <p:sp>
        <p:nvSpPr>
          <p:cNvPr id="3" name="Object 2"/>
          <p:cNvSpPr/>
          <p:nvPr/>
        </p:nvSpPr>
        <p:spPr>
          <a:xfrm>
            <a:off x="476131" y="313552"/>
            <a:ext cx="12188952" cy="329026"/>
          </a:xfrm>
          <a:prstGeom prst="rect">
            <a:avLst/>
          </a:prstGeom>
          <a:noFill/>
        </p:spPr>
        <p:txBody>
          <a:bodyPr wrap="square" rtlCol="0" anchor="t" bIns="0" lIns="0" rIns="0" tIns="0"/>
          <a:lstStyle/>
          <a:p>
            <a:pPr algn="l">
              <a:lnSpc>
                <a:spcPts val="2592"/>
              </a:lnSpc>
              <a:buNone/>
            </a:pPr>
            <a:r>
              <a:rPr lang="en-US" b="1" sz="2250" spc="22" kern="0" dirty="0" smtClean="0">
                <a:solidFill>
                  <a:srgbClr val="ffffff"/>
                </a:solidFill>
                <a:latin typeface="Lato" pitchFamily="34" charset="0"/>
                <a:ea typeface="Lato" pitchFamily="34" charset="-122"/>
                <a:cs typeface="Lato" pitchFamily="34" charset="-120"/>
              </a:rPr>
              <a:t>DATA ANALYSIS &amp; MODEL DEVELOPMENT</a:t>
            </a:r>
            <a:endParaRPr lang="en-US" dirty="0"/>
          </a:p>
        </p:txBody>
      </p:sp>
      <p:pic>
        <p:nvPicPr>
          <p:cNvPr id="4" name="Object 3"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85180" y="2295248"/>
            <a:ext cx="790377" cy="628493"/>
          </a:xfrm>
          <a:prstGeom prst="rect">
            <a:avLst/>
          </a:prstGeom>
        </p:spPr>
      </p:pic>
      <p:sp>
        <p:nvSpPr>
          <p:cNvPr id="5" name="Object 4"/>
          <p:cNvSpPr/>
          <p:nvPr/>
        </p:nvSpPr>
        <p:spPr>
          <a:xfrm>
            <a:off x="1459341" y="3371701"/>
            <a:ext cx="4032829" cy="281413"/>
          </a:xfrm>
          <a:prstGeom prst="rect">
            <a:avLst/>
          </a:prstGeom>
          <a:noFill/>
        </p:spPr>
        <p:txBody>
          <a:bodyPr wrap="square" rtlCol="0" anchor="t" bIns="0" lIns="0" rIns="0" tIns="0"/>
          <a:lstStyle/>
          <a:p>
            <a:pPr algn="ctr">
              <a:lnSpc>
                <a:spcPts val="2216"/>
              </a:lnSpc>
              <a:buNone/>
            </a:pPr>
            <a:r>
              <a:rPr lang="en-US" sz="1620" spc="32" kern="0" dirty="0" smtClean="0">
                <a:solidFill>
                  <a:srgbClr val="000000"/>
                </a:solidFill>
                <a:latin typeface="Lato" pitchFamily="34" charset="0"/>
                <a:ea typeface="Lato" pitchFamily="34" charset="-122"/>
                <a:cs typeface="Lato" pitchFamily="34" charset="-120"/>
              </a:rPr>
              <a:t>Data Exploration &amp; Cleaning</a:t>
            </a:r>
            <a:endParaRPr lang="en-US" dirty="0"/>
          </a:p>
        </p:txBody>
      </p:sp>
      <p:sp>
        <p:nvSpPr>
          <p:cNvPr id="6" name="Object 5"/>
          <p:cNvSpPr/>
          <p:nvPr/>
        </p:nvSpPr>
        <p:spPr>
          <a:xfrm>
            <a:off x="1459341" y="3715805"/>
            <a:ext cx="4032829" cy="987178"/>
          </a:xfrm>
          <a:prstGeom prst="rect">
            <a:avLst/>
          </a:prstGeom>
          <a:noFill/>
        </p:spPr>
        <p:txBody>
          <a:bodyPr wrap="square" rtlCol="0" anchor="t" bIns="0" lIns="0" rIns="0" tIns="0"/>
          <a:lstStyle/>
          <a:p>
            <a:pPr algn="ctr">
              <a:lnSpc>
                <a:spcPts val="1944"/>
              </a:lnSpc>
              <a:spcBef>
                <a:spcPts val="485"/>
              </a:spcBef>
              <a:buNone/>
            </a:pPr>
            <a:r>
              <a:rPr lang="en-US" sz="1350" spc="27" kern="0" dirty="0" smtClean="0">
                <a:solidFill>
                  <a:srgbClr val="3d3d3d">
                    <a:alpha val="80000"/>
                  </a:srgbClr>
                </a:solidFill>
                <a:latin typeface="Lato" pitchFamily="34" charset="0"/>
                <a:ea typeface="Lato" pitchFamily="34" charset="-122"/>
                <a:cs typeface="Lato" pitchFamily="34" charset="-120"/>
              </a:rPr>
              <a:t>We merged weather, solar, and grid data. KNN imputation was used to address null values. For geography, we focused on the closest weather station to the Repsol plant in Pinto.</a:t>
            </a:r>
            <a:endParaRPr lang="en-US" dirty="0"/>
          </a:p>
        </p:txBody>
      </p:sp>
      <p:pic>
        <p:nvPicPr>
          <p:cNvPr id="7" name="Object 6"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89580" y="2161337"/>
            <a:ext cx="638015" cy="847513"/>
          </a:xfrm>
          <a:prstGeom prst="rect">
            <a:avLst/>
          </a:prstGeom>
        </p:spPr>
      </p:pic>
      <p:sp>
        <p:nvSpPr>
          <p:cNvPr id="8" name="Object 7"/>
          <p:cNvSpPr/>
          <p:nvPr/>
        </p:nvSpPr>
        <p:spPr>
          <a:xfrm>
            <a:off x="6791056" y="3371701"/>
            <a:ext cx="3844281" cy="281413"/>
          </a:xfrm>
          <a:prstGeom prst="rect">
            <a:avLst/>
          </a:prstGeom>
          <a:noFill/>
        </p:spPr>
        <p:txBody>
          <a:bodyPr wrap="square" rtlCol="0" anchor="t" bIns="0" lIns="0" rIns="0" tIns="0"/>
          <a:lstStyle/>
          <a:p>
            <a:pPr algn="ctr">
              <a:lnSpc>
                <a:spcPts val="2216"/>
              </a:lnSpc>
              <a:buNone/>
            </a:pPr>
            <a:r>
              <a:rPr lang="en-US" sz="1620" spc="32" kern="0" dirty="0" smtClean="0">
                <a:solidFill>
                  <a:srgbClr val="000000"/>
                </a:solidFill>
                <a:latin typeface="Lato" pitchFamily="34" charset="0"/>
                <a:ea typeface="Lato" pitchFamily="34" charset="-122"/>
                <a:cs typeface="Lato" pitchFamily="34" charset="-120"/>
              </a:rPr>
              <a:t>Solar Generation Forecasting</a:t>
            </a:r>
            <a:endParaRPr lang="en-US" dirty="0"/>
          </a:p>
        </p:txBody>
      </p:sp>
      <p:sp>
        <p:nvSpPr>
          <p:cNvPr id="9" name="Object 8"/>
          <p:cNvSpPr/>
          <p:nvPr/>
        </p:nvSpPr>
        <p:spPr>
          <a:xfrm>
            <a:off x="6791056" y="3715805"/>
            <a:ext cx="3844281" cy="740384"/>
          </a:xfrm>
          <a:prstGeom prst="rect">
            <a:avLst/>
          </a:prstGeom>
          <a:noFill/>
        </p:spPr>
        <p:txBody>
          <a:bodyPr wrap="square" rtlCol="0" anchor="t" bIns="0" lIns="0" rIns="0" tIns="0"/>
          <a:lstStyle/>
          <a:p>
            <a:pPr algn="ctr">
              <a:lnSpc>
                <a:spcPts val="1944"/>
              </a:lnSpc>
              <a:spcBef>
                <a:spcPts val="485"/>
              </a:spcBef>
              <a:buNone/>
            </a:pPr>
            <a:r>
              <a:rPr lang="en-US" sz="1350" spc="27" kern="0" dirty="0" smtClean="0">
                <a:solidFill>
                  <a:srgbClr val="3d3d3d">
                    <a:alpha val="80000"/>
                  </a:srgbClr>
                </a:solidFill>
                <a:latin typeface="Lato" pitchFamily="34" charset="0"/>
                <a:ea typeface="Lato" pitchFamily="34" charset="-122"/>
                <a:cs typeface="Lato" pitchFamily="34" charset="-120"/>
              </a:rPr>
              <a:t>Developed a high-precision model to predict maximum solar generation, achieving a Mean Absolute Error (MAE) of 8.38 kWh.</a:t>
            </a:r>
            <a:endParaRPr lang="en-US" dirty="0"/>
          </a:p>
        </p:txBody>
      </p:sp>
      <p:sp>
        <p:nvSpPr>
          <p:cNvPr id="10" name="Object 9"/>
          <p:cNvSpPr/>
          <p:nvPr/>
        </p:nvSpPr>
        <p:spPr>
          <a:xfrm>
            <a:off x="0" y="5551687"/>
            <a:ext cx="12188952" cy="1304599"/>
          </a:xfrm>
          <a:prstGeom prst="rect">
            <a:avLst/>
          </a:prstGeom>
          <a:solidFill>
            <a:srgbClr val="bad6cd"/>
          </a:solidFill>
        </p:spPr>
      </p:sp>
      <p:sp>
        <p:nvSpPr>
          <p:cNvPr id="11" name="Object 10"/>
          <p:cNvSpPr/>
          <p:nvPr/>
        </p:nvSpPr>
        <p:spPr>
          <a:xfrm>
            <a:off x="385666" y="5844210"/>
            <a:ext cx="11417620" cy="703285"/>
          </a:xfrm>
          <a:prstGeom prst="rect">
            <a:avLst/>
          </a:prstGeom>
          <a:noFill/>
        </p:spPr>
        <p:txBody>
          <a:bodyPr wrap="square" rtlCol="0" anchor="ctr" bIns="0" lIns="0" rIns="0" tIns="0"/>
          <a:lstStyle/>
          <a:p>
            <a:pPr algn="ctr">
              <a:lnSpc>
                <a:spcPts val="2771"/>
              </a:lnSpc>
              <a:buNone/>
            </a:pPr>
            <a:r>
              <a:rPr lang="en-US" sz="2025" spc="41" kern="0" dirty="0" smtClean="0">
                <a:solidFill>
                  <a:srgbClr val="000000"/>
                </a:solidFill>
                <a:latin typeface="Lato" pitchFamily="34" charset="0"/>
                <a:ea typeface="Lato" pitchFamily="34" charset="-122"/>
                <a:cs typeface="Lato" pitchFamily="34" charset="-120"/>
              </a:rPr>
              <a:t>The detailed data analysis and model development laid the foundation for optimizing solar power generation and battery usage to enhance sustainability at the industrial facility.</a:t>
            </a:r>
            <a:endParaRPr lang="en-US" dirty="0"/>
          </a:p>
        </p:txBody>
      </p:sp>
    </p:spTree>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9f8"/>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52244"/>
            <a:ext cx="4589902" cy="1066533"/>
          </a:xfrm>
          <a:prstGeom prst="rect">
            <a:avLst/>
          </a:prstGeom>
        </p:spPr>
      </p:pic>
      <p:sp>
        <p:nvSpPr>
          <p:cNvPr id="3" name="Object 2"/>
          <p:cNvSpPr/>
          <p:nvPr/>
        </p:nvSpPr>
        <p:spPr>
          <a:xfrm>
            <a:off x="476131" y="313552"/>
            <a:ext cx="12188952" cy="329026"/>
          </a:xfrm>
          <a:prstGeom prst="rect">
            <a:avLst/>
          </a:prstGeom>
          <a:noFill/>
        </p:spPr>
        <p:txBody>
          <a:bodyPr wrap="square" rtlCol="0" anchor="t" bIns="0" lIns="0" rIns="0" tIns="0"/>
          <a:lstStyle/>
          <a:p>
            <a:pPr algn="l">
              <a:lnSpc>
                <a:spcPts val="2592"/>
              </a:lnSpc>
              <a:buNone/>
            </a:pPr>
            <a:r>
              <a:rPr lang="en-US" b="1" sz="2250" spc="22" kern="0" dirty="0" smtClean="0">
                <a:solidFill>
                  <a:srgbClr val="ffffff"/>
                </a:solidFill>
                <a:latin typeface="Lato" pitchFamily="34" charset="0"/>
                <a:ea typeface="Lato" pitchFamily="34" charset="-122"/>
                <a:cs typeface="Lato" pitchFamily="34" charset="-120"/>
              </a:rPr>
              <a:t>BATTERY OPTIMIZATION</a:t>
            </a:r>
            <a:endParaRPr lang="en-US" dirty="0"/>
          </a:p>
        </p:txBody>
      </p:sp>
      <p:pic>
        <p:nvPicPr>
          <p:cNvPr id="4" name="Object 3"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608" y="2806792"/>
            <a:ext cx="5732616" cy="1218895"/>
          </a:xfrm>
          <a:prstGeom prst="rect">
            <a:avLst/>
          </a:prstGeom>
        </p:spPr>
      </p:pic>
      <p:sp>
        <p:nvSpPr>
          <p:cNvPr id="5" name="Object 4"/>
          <p:cNvSpPr/>
          <p:nvPr/>
        </p:nvSpPr>
        <p:spPr>
          <a:xfrm>
            <a:off x="414234" y="3264572"/>
            <a:ext cx="5551687" cy="281413"/>
          </a:xfrm>
          <a:prstGeom prst="rect">
            <a:avLst/>
          </a:prstGeom>
          <a:noFill/>
        </p:spPr>
        <p:txBody>
          <a:bodyPr wrap="square" rtlCol="0" anchor="t" bIns="0" lIns="0" rIns="0" tIns="0"/>
          <a:lstStyle/>
          <a:p>
            <a:pPr algn="ctr">
              <a:lnSpc>
                <a:spcPts val="2216"/>
              </a:lnSpc>
              <a:buNone/>
            </a:pPr>
            <a:r>
              <a:rPr lang="en-US" sz="1620" spc="32" kern="0" dirty="0" smtClean="0">
                <a:solidFill>
                  <a:srgbClr val="000000"/>
                </a:solidFill>
                <a:latin typeface="Lato" pitchFamily="34" charset="0"/>
                <a:ea typeface="Lato" pitchFamily="34" charset="-122"/>
                <a:cs typeface="Lato" pitchFamily="34" charset="-120"/>
              </a:rPr>
              <a:t>Simulated Battery Behavior</a:t>
            </a:r>
            <a:endParaRPr lang="en-US" dirty="0"/>
          </a:p>
        </p:txBody>
      </p:sp>
      <p:sp>
        <p:nvSpPr>
          <p:cNvPr id="6" name="Object 5"/>
          <p:cNvSpPr/>
          <p:nvPr/>
        </p:nvSpPr>
        <p:spPr>
          <a:xfrm>
            <a:off x="761810" y="4132023"/>
            <a:ext cx="5551687" cy="740384"/>
          </a:xfrm>
          <a:prstGeom prst="rect">
            <a:avLst/>
          </a:prstGeom>
          <a:noFill/>
        </p:spPr>
        <p:txBody>
          <a:bodyPr wrap="square" rtlCol="0" anchor="t" bIns="0" lIns="0" rIns="0" tIns="0"/>
          <a:lstStyle/>
          <a:p>
            <a:pPr algn="l">
              <a:lnSpc>
                <a:spcPts val="1944"/>
              </a:lnSpc>
              <a:buNone/>
            </a:pPr>
            <a:r>
              <a:rPr lang="en-US" sz="1350" spc="27" kern="0" dirty="0" smtClean="0">
                <a:solidFill>
                  <a:srgbClr val="3d3d3d">
                    <a:alpha val="80000"/>
                  </a:srgbClr>
                </a:solidFill>
                <a:latin typeface="Lato" pitchFamily="34" charset="0"/>
                <a:ea typeface="Lato" pitchFamily="34" charset="-122"/>
                <a:cs typeface="Lato" pitchFamily="34" charset="-120"/>
              </a:rPr>
              <a:t>Simulated a 100-kWh battery with one charge-discharge cycle per day. Stored surplus solar energy and discharged it during high grid-intensity periods.</a:t>
            </a:r>
            <a:endParaRPr lang="en-US" dirty="0"/>
          </a:p>
        </p:txBody>
      </p:sp>
      <p:pic>
        <p:nvPicPr>
          <p:cNvPr id="7" name="Object 6"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89728" y="2806792"/>
            <a:ext cx="5742139" cy="1218895"/>
          </a:xfrm>
          <a:prstGeom prst="rect">
            <a:avLst/>
          </a:prstGeom>
        </p:spPr>
      </p:pic>
      <p:sp>
        <p:nvSpPr>
          <p:cNvPr id="8" name="Object 7"/>
          <p:cNvSpPr/>
          <p:nvPr/>
        </p:nvSpPr>
        <p:spPr>
          <a:xfrm>
            <a:off x="6237315" y="3264572"/>
            <a:ext cx="5237440" cy="281413"/>
          </a:xfrm>
          <a:prstGeom prst="rect">
            <a:avLst/>
          </a:prstGeom>
          <a:noFill/>
        </p:spPr>
        <p:txBody>
          <a:bodyPr wrap="square" rtlCol="0" anchor="t" bIns="0" lIns="0" rIns="0" tIns="0"/>
          <a:lstStyle/>
          <a:p>
            <a:pPr algn="ctr">
              <a:lnSpc>
                <a:spcPts val="2216"/>
              </a:lnSpc>
              <a:buNone/>
            </a:pPr>
            <a:r>
              <a:rPr lang="en-US" sz="1620" spc="32" kern="0" dirty="0" smtClean="0">
                <a:solidFill>
                  <a:srgbClr val="ffffff"/>
                </a:solidFill>
                <a:latin typeface="Lato" pitchFamily="34" charset="0"/>
                <a:ea typeface="Lato" pitchFamily="34" charset="-122"/>
                <a:cs typeface="Lato" pitchFamily="34" charset="-120"/>
              </a:rPr>
              <a:t>Improved Self-Consumption Ratio</a:t>
            </a:r>
            <a:endParaRPr lang="en-US" dirty="0"/>
          </a:p>
        </p:txBody>
      </p:sp>
      <p:sp>
        <p:nvSpPr>
          <p:cNvPr id="9" name="Object 8"/>
          <p:cNvSpPr/>
          <p:nvPr/>
        </p:nvSpPr>
        <p:spPr>
          <a:xfrm>
            <a:off x="6284928" y="4132023"/>
            <a:ext cx="5551687" cy="740384"/>
          </a:xfrm>
          <a:prstGeom prst="rect">
            <a:avLst/>
          </a:prstGeom>
          <a:noFill/>
        </p:spPr>
        <p:txBody>
          <a:bodyPr wrap="square" rtlCol="0" anchor="t" bIns="0" lIns="0" rIns="0" tIns="0"/>
          <a:lstStyle/>
          <a:p>
            <a:pPr algn="l">
              <a:lnSpc>
                <a:spcPts val="1944"/>
              </a:lnSpc>
              <a:buNone/>
            </a:pPr>
            <a:r>
              <a:rPr lang="en-US" sz="1350" spc="27" kern="0" dirty="0" smtClean="0">
                <a:solidFill>
                  <a:srgbClr val="3d3d3d">
                    <a:alpha val="80000"/>
                  </a:srgbClr>
                </a:solidFill>
                <a:latin typeface="Lato" pitchFamily="34" charset="0"/>
                <a:ea typeface="Lato" pitchFamily="34" charset="-122"/>
                <a:cs typeface="Lato" pitchFamily="34" charset="-120"/>
              </a:rPr>
              <a:t>The optimized battery strategy improved the Self-Consumption Ratio (Ra) to 1.0792, ensuring more of the available solar energy was effectively used on-site.</a:t>
            </a:r>
            <a:endParaRPr lang="en-US" dirty="0"/>
          </a:p>
        </p:txBody>
      </p:sp>
    </p:spTree>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0309"/>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52244"/>
            <a:ext cx="4618470" cy="1066533"/>
          </a:xfrm>
          <a:prstGeom prst="rect">
            <a:avLst/>
          </a:prstGeom>
        </p:spPr>
      </p:pic>
      <p:sp>
        <p:nvSpPr>
          <p:cNvPr id="3" name="Object 2"/>
          <p:cNvSpPr/>
          <p:nvPr/>
        </p:nvSpPr>
        <p:spPr>
          <a:xfrm>
            <a:off x="476131" y="313552"/>
            <a:ext cx="12188952" cy="329026"/>
          </a:xfrm>
          <a:prstGeom prst="rect">
            <a:avLst/>
          </a:prstGeom>
          <a:noFill/>
        </p:spPr>
        <p:txBody>
          <a:bodyPr wrap="square" rtlCol="0" anchor="t" bIns="0" lIns="0" rIns="0" tIns="0"/>
          <a:lstStyle/>
          <a:p>
            <a:pPr algn="l">
              <a:lnSpc>
                <a:spcPts val="2592"/>
              </a:lnSpc>
              <a:buNone/>
            </a:pPr>
            <a:r>
              <a:rPr lang="en-US" b="1" sz="2250" spc="22" kern="0" dirty="0" smtClean="0">
                <a:solidFill>
                  <a:srgbClr val="ffffff"/>
                </a:solidFill>
                <a:latin typeface="Lato" pitchFamily="34" charset="0"/>
                <a:ea typeface="Lato" pitchFamily="34" charset="-122"/>
                <a:cs typeface="Lato" pitchFamily="34" charset="-120"/>
              </a:rPr>
              <a:t>CO₂ EMISSIONS AVOIDED</a:t>
            </a:r>
            <a:endParaRPr lang="en-US" dirty="0"/>
          </a:p>
        </p:txBody>
      </p:sp>
      <p:sp>
        <p:nvSpPr>
          <p:cNvPr id="4" name="Object 3"/>
          <p:cNvSpPr/>
          <p:nvPr/>
        </p:nvSpPr>
        <p:spPr>
          <a:xfrm>
            <a:off x="476131" y="1124066"/>
            <a:ext cx="12188952" cy="616986"/>
          </a:xfrm>
          <a:prstGeom prst="rect">
            <a:avLst/>
          </a:prstGeom>
          <a:noFill/>
        </p:spPr>
        <p:txBody>
          <a:bodyPr wrap="square" rtlCol="0" anchor="t" bIns="0" lIns="0" rIns="0" tIns="0"/>
          <a:lstStyle/>
          <a:p>
            <a:pPr algn="l">
              <a:lnSpc>
                <a:spcPts val="2430"/>
              </a:lnSpc>
              <a:spcBef>
                <a:spcPts val="3717"/>
              </a:spcBef>
              <a:buNone/>
            </a:pPr>
            <a:r>
              <a:rPr lang="en-US" sz="1688" spc="34" kern="0" dirty="0" smtClean="0">
                <a:solidFill>
                  <a:srgbClr val="ffffff">
                    <a:alpha val="80000"/>
                  </a:srgbClr>
                </a:solidFill>
                <a:latin typeface="Lato" pitchFamily="34" charset="0"/>
                <a:ea typeface="Lato" pitchFamily="34" charset="-122"/>
                <a:cs typeface="Lato" pitchFamily="34" charset="-120"/>
              </a:rPr>
              <a:t>Comparison of CO₂ emissions avoided through the optimized solar-plus-storage system at the Repsol industrial plant</a:t>
            </a:r>
            <a:endParaRPr lang="en-US" dirty="0"/>
          </a:p>
        </p:txBody>
      </p:sp>
      <p:pic>
        <p:nvPicPr>
          <p:cNvPr id="5" name="Object 4"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5494" y="2623482"/>
            <a:ext cx="2380655" cy="2380655"/>
          </a:xfrm>
          <a:prstGeom prst="rect">
            <a:avLst/>
          </a:prstGeom>
        </p:spPr>
      </p:pic>
      <p:pic>
        <p:nvPicPr>
          <p:cNvPr id="6" name="Object 5"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4798" y="2623482"/>
            <a:ext cx="2390177" cy="2380655"/>
          </a:xfrm>
          <a:prstGeom prst="rect">
            <a:avLst/>
          </a:prstGeom>
        </p:spPr>
      </p:pic>
      <p:sp>
        <p:nvSpPr>
          <p:cNvPr id="7" name="Object 6"/>
          <p:cNvSpPr/>
          <p:nvPr/>
        </p:nvSpPr>
        <p:spPr>
          <a:xfrm>
            <a:off x="1269365" y="3641707"/>
            <a:ext cx="2032127" cy="329026"/>
          </a:xfrm>
          <a:prstGeom prst="rect">
            <a:avLst/>
          </a:prstGeom>
          <a:noFill/>
        </p:spPr>
        <p:txBody>
          <a:bodyPr wrap="square" rtlCol="0" anchor="ctr" bIns="0" lIns="0" rIns="0" tIns="0"/>
          <a:lstStyle/>
          <a:p>
            <a:pPr algn="ctr">
              <a:lnSpc>
                <a:spcPts val="2592"/>
              </a:lnSpc>
              <a:buNone/>
            </a:pPr>
            <a:r>
              <a:rPr lang="en-US" b="1" sz="2250" spc="22" kern="0" dirty="0" smtClean="0">
                <a:solidFill>
                  <a:srgbClr val="ffffff"/>
                </a:solidFill>
                <a:latin typeface="Lato" pitchFamily="34" charset="0"/>
                <a:ea typeface="Lato" pitchFamily="34" charset="-122"/>
                <a:cs typeface="Lato" pitchFamily="34" charset="-120"/>
              </a:rPr>
              <a:t>192,671</a:t>
            </a:r>
            <a:endParaRPr lang="en-US" dirty="0"/>
          </a:p>
        </p:txBody>
      </p:sp>
      <p:sp>
        <p:nvSpPr>
          <p:cNvPr id="8" name="Object 7"/>
          <p:cNvSpPr/>
          <p:nvPr/>
        </p:nvSpPr>
        <p:spPr>
          <a:xfrm>
            <a:off x="976068" y="5123863"/>
            <a:ext cx="2618720" cy="562826"/>
          </a:xfrm>
          <a:prstGeom prst="rect">
            <a:avLst/>
          </a:prstGeom>
          <a:noFill/>
        </p:spPr>
        <p:txBody>
          <a:bodyPr wrap="square" rtlCol="0" anchor="t" bIns="0" lIns="0" rIns="0" tIns="0"/>
          <a:lstStyle/>
          <a:p>
            <a:pPr algn="ctr">
              <a:lnSpc>
                <a:spcPts val="2216"/>
              </a:lnSpc>
              <a:buNone/>
            </a:pPr>
            <a:r>
              <a:rPr lang="en-US" sz="1620" spc="32" kern="0" dirty="0" smtClean="0">
                <a:solidFill>
                  <a:srgbClr val="ffffff"/>
                </a:solidFill>
                <a:latin typeface="Lato" pitchFamily="34" charset="0"/>
                <a:ea typeface="Lato" pitchFamily="34" charset="-122"/>
                <a:cs typeface="Lato" pitchFamily="34" charset="-120"/>
              </a:rPr>
              <a:t>Total CO₂ Emissions Avoided</a:t>
            </a:r>
            <a:endParaRPr lang="en-US" dirty="0"/>
          </a:p>
        </p:txBody>
      </p:sp>
      <p:pic>
        <p:nvPicPr>
          <p:cNvPr id="9" name="Object 8"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04540" y="2623482"/>
            <a:ext cx="2380655" cy="2380655"/>
          </a:xfrm>
          <a:prstGeom prst="rect">
            <a:avLst/>
          </a:prstGeom>
        </p:spPr>
      </p:pic>
      <p:pic>
        <p:nvPicPr>
          <p:cNvPr id="10" name="Object 9" descr="">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04139" y="2623482"/>
            <a:ext cx="2390177" cy="2380655"/>
          </a:xfrm>
          <a:prstGeom prst="rect">
            <a:avLst/>
          </a:prstGeom>
        </p:spPr>
      </p:pic>
      <p:sp>
        <p:nvSpPr>
          <p:cNvPr id="11" name="Object 10"/>
          <p:cNvSpPr/>
          <p:nvPr/>
        </p:nvSpPr>
        <p:spPr>
          <a:xfrm>
            <a:off x="5078413" y="3641707"/>
            <a:ext cx="2032127" cy="329026"/>
          </a:xfrm>
          <a:prstGeom prst="rect">
            <a:avLst/>
          </a:prstGeom>
          <a:noFill/>
        </p:spPr>
        <p:txBody>
          <a:bodyPr wrap="square" rtlCol="0" anchor="ctr" bIns="0" lIns="0" rIns="0" tIns="0"/>
          <a:lstStyle/>
          <a:p>
            <a:pPr algn="ctr">
              <a:lnSpc>
                <a:spcPts val="2592"/>
              </a:lnSpc>
              <a:buNone/>
            </a:pPr>
            <a:r>
              <a:rPr lang="en-US" b="1" sz="2250" spc="22" kern="0" dirty="0" smtClean="0">
                <a:solidFill>
                  <a:srgbClr val="ffffff"/>
                </a:solidFill>
                <a:latin typeface="Lato" pitchFamily="34" charset="0"/>
                <a:ea typeface="Lato" pitchFamily="34" charset="-122"/>
                <a:cs typeface="Lato" pitchFamily="34" charset="-120"/>
              </a:rPr>
              <a:t>163,239</a:t>
            </a:r>
            <a:endParaRPr lang="en-US" dirty="0"/>
          </a:p>
        </p:txBody>
      </p:sp>
      <p:sp>
        <p:nvSpPr>
          <p:cNvPr id="12" name="Object 11"/>
          <p:cNvSpPr/>
          <p:nvPr/>
        </p:nvSpPr>
        <p:spPr>
          <a:xfrm>
            <a:off x="4785116" y="5123863"/>
            <a:ext cx="2618720" cy="562826"/>
          </a:xfrm>
          <a:prstGeom prst="rect">
            <a:avLst/>
          </a:prstGeom>
          <a:noFill/>
        </p:spPr>
        <p:txBody>
          <a:bodyPr wrap="square" rtlCol="0" anchor="t" bIns="0" lIns="0" rIns="0" tIns="0"/>
          <a:lstStyle/>
          <a:p>
            <a:pPr algn="ctr">
              <a:lnSpc>
                <a:spcPts val="2216"/>
              </a:lnSpc>
              <a:buNone/>
            </a:pPr>
            <a:r>
              <a:rPr lang="en-US" sz="1620" spc="32" kern="0" dirty="0" smtClean="0">
                <a:solidFill>
                  <a:srgbClr val="ffffff"/>
                </a:solidFill>
                <a:latin typeface="Lato" pitchFamily="34" charset="0"/>
                <a:ea typeface="Lato" pitchFamily="34" charset="-122"/>
                <a:cs typeface="Lato" pitchFamily="34" charset="-120"/>
              </a:rPr>
              <a:t>Emissions Avoided from Grid Reliance Reduction</a:t>
            </a:r>
            <a:endParaRPr lang="en-US" dirty="0"/>
          </a:p>
        </p:txBody>
      </p:sp>
      <p:pic>
        <p:nvPicPr>
          <p:cNvPr id="13" name="Object 12" descr="">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13593" y="2623482"/>
            <a:ext cx="2380655" cy="2380655"/>
          </a:xfrm>
          <a:prstGeom prst="rect">
            <a:avLst/>
          </a:prstGeom>
        </p:spPr>
      </p:pic>
      <p:pic>
        <p:nvPicPr>
          <p:cNvPr id="14" name="Object 13" descr="">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865431" y="2623482"/>
            <a:ext cx="1009398" cy="561835"/>
          </a:xfrm>
          <a:prstGeom prst="rect">
            <a:avLst/>
          </a:prstGeom>
        </p:spPr>
      </p:pic>
      <p:sp>
        <p:nvSpPr>
          <p:cNvPr id="15" name="Object 14"/>
          <p:cNvSpPr/>
          <p:nvPr/>
        </p:nvSpPr>
        <p:spPr>
          <a:xfrm>
            <a:off x="8887460" y="3641707"/>
            <a:ext cx="2032127" cy="329026"/>
          </a:xfrm>
          <a:prstGeom prst="rect">
            <a:avLst/>
          </a:prstGeom>
          <a:noFill/>
        </p:spPr>
        <p:txBody>
          <a:bodyPr wrap="square" rtlCol="0" anchor="ctr" bIns="0" lIns="0" rIns="0" tIns="0"/>
          <a:lstStyle/>
          <a:p>
            <a:pPr algn="ctr">
              <a:lnSpc>
                <a:spcPts val="2592"/>
              </a:lnSpc>
              <a:buNone/>
            </a:pPr>
            <a:r>
              <a:rPr lang="en-US" b="1" sz="2250" spc="22" kern="0" dirty="0" smtClean="0">
                <a:solidFill>
                  <a:srgbClr val="ffffff"/>
                </a:solidFill>
                <a:latin typeface="Lato" pitchFamily="34" charset="0"/>
                <a:ea typeface="Lato" pitchFamily="34" charset="-122"/>
                <a:cs typeface="Lato" pitchFamily="34" charset="-120"/>
              </a:rPr>
              <a:t>29,432</a:t>
            </a:r>
            <a:endParaRPr lang="en-US" dirty="0"/>
          </a:p>
        </p:txBody>
      </p:sp>
      <p:sp>
        <p:nvSpPr>
          <p:cNvPr id="16" name="Object 15"/>
          <p:cNvSpPr/>
          <p:nvPr/>
        </p:nvSpPr>
        <p:spPr>
          <a:xfrm>
            <a:off x="8594163" y="5123863"/>
            <a:ext cx="2618720" cy="844240"/>
          </a:xfrm>
          <a:prstGeom prst="rect">
            <a:avLst/>
          </a:prstGeom>
          <a:noFill/>
        </p:spPr>
        <p:txBody>
          <a:bodyPr wrap="square" rtlCol="0" anchor="t" bIns="0" lIns="0" rIns="0" tIns="0"/>
          <a:lstStyle/>
          <a:p>
            <a:pPr algn="ctr">
              <a:lnSpc>
                <a:spcPts val="2216"/>
              </a:lnSpc>
              <a:buNone/>
            </a:pPr>
            <a:r>
              <a:rPr lang="en-US" sz="1620" spc="32" kern="0" dirty="0" smtClean="0">
                <a:solidFill>
                  <a:srgbClr val="ffffff"/>
                </a:solidFill>
                <a:latin typeface="Lato" pitchFamily="34" charset="0"/>
                <a:ea typeface="Lato" pitchFamily="34" charset="-122"/>
                <a:cs typeface="Lato" pitchFamily="34" charset="-120"/>
              </a:rPr>
              <a:t>Emissions Avoided from Increased Solar Utilization</a:t>
            </a:r>
            <a:endParaRPr lang="en-US" dirty="0"/>
          </a:p>
        </p:txBody>
      </p:sp>
    </p:spTree>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0309"/>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52244"/>
            <a:ext cx="5237440" cy="1066533"/>
          </a:xfrm>
          <a:prstGeom prst="rect">
            <a:avLst/>
          </a:prstGeom>
        </p:spPr>
      </p:pic>
      <p:sp>
        <p:nvSpPr>
          <p:cNvPr id="3" name="Object 2"/>
          <p:cNvSpPr/>
          <p:nvPr/>
        </p:nvSpPr>
        <p:spPr>
          <a:xfrm>
            <a:off x="476131" y="313552"/>
            <a:ext cx="12188952" cy="329026"/>
          </a:xfrm>
          <a:prstGeom prst="rect">
            <a:avLst/>
          </a:prstGeom>
          <a:noFill/>
        </p:spPr>
        <p:txBody>
          <a:bodyPr wrap="square" rtlCol="0" anchor="t" bIns="0" lIns="0" rIns="0" tIns="0"/>
          <a:lstStyle/>
          <a:p>
            <a:pPr algn="l">
              <a:lnSpc>
                <a:spcPts val="2592"/>
              </a:lnSpc>
              <a:buNone/>
            </a:pPr>
            <a:r>
              <a:rPr lang="en-US" b="1" sz="2250" spc="22" kern="0" dirty="0" smtClean="0">
                <a:solidFill>
                  <a:srgbClr val="ffffff"/>
                </a:solidFill>
                <a:latin typeface="Lato" pitchFamily="34" charset="0"/>
                <a:ea typeface="Lato" pitchFamily="34" charset="-122"/>
                <a:cs typeface="Lato" pitchFamily="34" charset="-120"/>
              </a:rPr>
              <a:t>STRATEGIC BUSINESS IMPACT</a:t>
            </a:r>
            <a:endParaRPr lang="en-US" dirty="0"/>
          </a:p>
        </p:txBody>
      </p:sp>
      <p:sp>
        <p:nvSpPr>
          <p:cNvPr id="4" name="Object 3"/>
          <p:cNvSpPr/>
          <p:nvPr/>
        </p:nvSpPr>
        <p:spPr>
          <a:xfrm>
            <a:off x="476131" y="1447438"/>
            <a:ext cx="3618595" cy="4932717"/>
          </a:xfrm>
          <a:prstGeom prst="rect">
            <a:avLst/>
          </a:prstGeom>
          <a:noFill/>
          <a:ln w="25400">
            <a:solidFill>
              <a:srgbClr val="a61e51"/>
            </a:solidFill>
            <a:prstDash val="solid"/>
            <a:miter lim="800000"/>
          </a:ln>
        </p:spPr>
      </p:sp>
      <p:sp>
        <p:nvSpPr>
          <p:cNvPr id="5" name="Object 4"/>
          <p:cNvSpPr/>
          <p:nvPr/>
        </p:nvSpPr>
        <p:spPr>
          <a:xfrm>
            <a:off x="761810" y="1642949"/>
            <a:ext cx="3456711" cy="358685"/>
          </a:xfrm>
          <a:prstGeom prst="rect">
            <a:avLst/>
          </a:prstGeom>
          <a:noFill/>
        </p:spPr>
        <p:txBody>
          <a:bodyPr wrap="square" rtlCol="0" anchor="t" bIns="0" lIns="0" rIns="0" tIns="0"/>
          <a:lstStyle/>
          <a:p>
            <a:pPr algn="l">
              <a:lnSpc>
                <a:spcPts val="2825"/>
              </a:lnSpc>
              <a:buNone/>
            </a:pPr>
            <a:r>
              <a:rPr lang="en-US" sz="2066" spc="41" kern="0" dirty="0" smtClean="0">
                <a:solidFill>
                  <a:srgbClr val="ffffff"/>
                </a:solidFill>
                <a:latin typeface="Lato" pitchFamily="34" charset="0"/>
                <a:ea typeface="Lato" pitchFamily="34" charset="-122"/>
                <a:cs typeface="Lato" pitchFamily="34" charset="-120"/>
              </a:rPr>
              <a:t>Cost Savings &amp; ROI</a:t>
            </a:r>
            <a:endParaRPr lang="en-US" dirty="0"/>
          </a:p>
        </p:txBody>
      </p:sp>
      <p:sp>
        <p:nvSpPr>
          <p:cNvPr id="6" name="Object 5"/>
          <p:cNvSpPr/>
          <p:nvPr/>
        </p:nvSpPr>
        <p:spPr>
          <a:xfrm>
            <a:off x="761810" y="2105689"/>
            <a:ext cx="3456711" cy="3887014"/>
          </a:xfrm>
          <a:prstGeom prst="rect">
            <a:avLst/>
          </a:prstGeom>
          <a:noFill/>
        </p:spPr>
        <p:txBody>
          <a:bodyPr wrap="square" rtlCol="0" anchor="t" bIns="0" lIns="0" rIns="0" tIns="0"/>
          <a:lstStyle/>
          <a:p>
            <a:pPr algn="l">
              <a:lnSpc>
                <a:spcPts val="2187"/>
              </a:lnSpc>
              <a:spcBef>
                <a:spcPts val="804"/>
              </a:spcBef>
              <a:buNone/>
            </a:pPr>
            <a:r>
              <a:rPr lang="en-US" sz="1519" spc="31" kern="0" dirty="0" smtClean="0">
                <a:solidFill>
                  <a:srgbClr val="ffffff">
                    <a:alpha val="80000"/>
                  </a:srgbClr>
                </a:solidFill>
                <a:latin typeface="Lato" pitchFamily="34" charset="0"/>
                <a:ea typeface="Lato" pitchFamily="34" charset="-122"/>
                <a:cs typeface="Lato" pitchFamily="34" charset="-120"/>
              </a:rPr>
              <a:t>Implementing the optimized solar and battery strategy yields direct cost savings. Reduced grid consumption means the plant draws less electricity from the external network, thereby cutting monthly energy bills. By shifting energy usage away from peak tariff periods, the battery allows the facility to avoid high time-of-use charges. Over time, these savings contribute to a compelling return on investment (ROI) for the battery and analytics system.</a:t>
            </a:r>
            <a:endParaRPr lang="en-US" dirty="0"/>
          </a:p>
        </p:txBody>
      </p:sp>
      <p:sp>
        <p:nvSpPr>
          <p:cNvPr id="7" name="Object 6"/>
          <p:cNvSpPr/>
          <p:nvPr/>
        </p:nvSpPr>
        <p:spPr>
          <a:xfrm>
            <a:off x="4285178" y="1447438"/>
            <a:ext cx="3618595" cy="4932717"/>
          </a:xfrm>
          <a:prstGeom prst="rect">
            <a:avLst/>
          </a:prstGeom>
          <a:noFill/>
          <a:ln w="25400">
            <a:solidFill>
              <a:srgbClr val="a61e51"/>
            </a:solidFill>
            <a:prstDash val="solid"/>
            <a:miter lim="800000"/>
          </a:ln>
        </p:spPr>
      </p:sp>
      <p:sp>
        <p:nvSpPr>
          <p:cNvPr id="8" name="Object 7"/>
          <p:cNvSpPr/>
          <p:nvPr/>
        </p:nvSpPr>
        <p:spPr>
          <a:xfrm>
            <a:off x="4570857" y="1642949"/>
            <a:ext cx="3456711" cy="717371"/>
          </a:xfrm>
          <a:prstGeom prst="rect">
            <a:avLst/>
          </a:prstGeom>
          <a:noFill/>
        </p:spPr>
        <p:txBody>
          <a:bodyPr wrap="square" rtlCol="0" anchor="t" bIns="0" lIns="0" rIns="0" tIns="0"/>
          <a:lstStyle/>
          <a:p>
            <a:pPr algn="l">
              <a:lnSpc>
                <a:spcPts val="2825"/>
              </a:lnSpc>
              <a:buNone/>
            </a:pPr>
            <a:r>
              <a:rPr lang="en-US" sz="2066" spc="41" kern="0" dirty="0" smtClean="0">
                <a:solidFill>
                  <a:srgbClr val="ffffff"/>
                </a:solidFill>
                <a:latin typeface="Lato" pitchFamily="34" charset="0"/>
                <a:ea typeface="Lato" pitchFamily="34" charset="-122"/>
                <a:cs typeface="Lato" pitchFamily="34" charset="-120"/>
              </a:rPr>
              <a:t>Enhanced Sustainability Credentials</a:t>
            </a:r>
            <a:endParaRPr lang="en-US" dirty="0"/>
          </a:p>
        </p:txBody>
      </p:sp>
      <p:sp>
        <p:nvSpPr>
          <p:cNvPr id="9" name="Object 8"/>
          <p:cNvSpPr/>
          <p:nvPr/>
        </p:nvSpPr>
        <p:spPr>
          <a:xfrm>
            <a:off x="4570857" y="2464374"/>
            <a:ext cx="3456711" cy="2776439"/>
          </a:xfrm>
          <a:prstGeom prst="rect">
            <a:avLst/>
          </a:prstGeom>
          <a:noFill/>
        </p:spPr>
        <p:txBody>
          <a:bodyPr wrap="square" rtlCol="0" anchor="t" bIns="0" lIns="0" rIns="0" tIns="0"/>
          <a:lstStyle/>
          <a:p>
            <a:pPr algn="l">
              <a:lnSpc>
                <a:spcPts val="2187"/>
              </a:lnSpc>
              <a:spcBef>
                <a:spcPts val="804"/>
              </a:spcBef>
              <a:buNone/>
            </a:pPr>
            <a:r>
              <a:rPr lang="en-US" sz="1519" spc="31" kern="0" dirty="0" smtClean="0">
                <a:solidFill>
                  <a:srgbClr val="ffffff">
                    <a:alpha val="80000"/>
                  </a:srgbClr>
                </a:solidFill>
                <a:latin typeface="Lato" pitchFamily="34" charset="0"/>
                <a:ea typeface="Lato" pitchFamily="34" charset="-122"/>
                <a:cs typeface="Lato" pitchFamily="34" charset="-120"/>
              </a:rPr>
              <a:t>Demonstrating a tangible reduction in CO₂ emissions and a more efficient use of renewable energy directly reinforces Repsol's sustainability credentials. The results of this project showcase Repsol's commitment to its 2050 net-zero emissions pledge, and they align with the company's interim decarbonization goals.</a:t>
            </a:r>
            <a:endParaRPr lang="en-US" dirty="0"/>
          </a:p>
        </p:txBody>
      </p:sp>
      <p:sp>
        <p:nvSpPr>
          <p:cNvPr id="10" name="Object 9"/>
          <p:cNvSpPr/>
          <p:nvPr/>
        </p:nvSpPr>
        <p:spPr>
          <a:xfrm>
            <a:off x="8094226" y="1447438"/>
            <a:ext cx="3618595" cy="4932717"/>
          </a:xfrm>
          <a:prstGeom prst="rect">
            <a:avLst/>
          </a:prstGeom>
          <a:noFill/>
          <a:ln w="25400">
            <a:solidFill>
              <a:srgbClr val="a61e51"/>
            </a:solidFill>
            <a:prstDash val="solid"/>
            <a:miter lim="800000"/>
          </a:ln>
        </p:spPr>
      </p:sp>
      <p:sp>
        <p:nvSpPr>
          <p:cNvPr id="11" name="Object 10"/>
          <p:cNvSpPr/>
          <p:nvPr/>
        </p:nvSpPr>
        <p:spPr>
          <a:xfrm>
            <a:off x="8379905" y="1642949"/>
            <a:ext cx="3456711" cy="717371"/>
          </a:xfrm>
          <a:prstGeom prst="rect">
            <a:avLst/>
          </a:prstGeom>
          <a:noFill/>
        </p:spPr>
        <p:txBody>
          <a:bodyPr wrap="square" rtlCol="0" anchor="t" bIns="0" lIns="0" rIns="0" tIns="0"/>
          <a:lstStyle/>
          <a:p>
            <a:pPr algn="l">
              <a:lnSpc>
                <a:spcPts val="2825"/>
              </a:lnSpc>
              <a:buNone/>
            </a:pPr>
            <a:r>
              <a:rPr lang="en-US" sz="2066" spc="41" kern="0" dirty="0" smtClean="0">
                <a:solidFill>
                  <a:srgbClr val="ffffff"/>
                </a:solidFill>
                <a:latin typeface="Lato" pitchFamily="34" charset="0"/>
                <a:ea typeface="Lato" pitchFamily="34" charset="-122"/>
                <a:cs typeface="Lato" pitchFamily="34" charset="-120"/>
              </a:rPr>
              <a:t>Alignment with National Climate Goals</a:t>
            </a:r>
            <a:endParaRPr lang="en-US" dirty="0"/>
          </a:p>
        </p:txBody>
      </p:sp>
      <p:sp>
        <p:nvSpPr>
          <p:cNvPr id="12" name="Object 11"/>
          <p:cNvSpPr/>
          <p:nvPr/>
        </p:nvSpPr>
        <p:spPr>
          <a:xfrm>
            <a:off x="8379905" y="2464374"/>
            <a:ext cx="3456711" cy="2498795"/>
          </a:xfrm>
          <a:prstGeom prst="rect">
            <a:avLst/>
          </a:prstGeom>
          <a:noFill/>
        </p:spPr>
        <p:txBody>
          <a:bodyPr wrap="square" rtlCol="0" anchor="t" bIns="0" lIns="0" rIns="0" tIns="0"/>
          <a:lstStyle/>
          <a:p>
            <a:pPr algn="l">
              <a:lnSpc>
                <a:spcPts val="2187"/>
              </a:lnSpc>
              <a:spcBef>
                <a:spcPts val="804"/>
              </a:spcBef>
              <a:buNone/>
            </a:pPr>
            <a:r>
              <a:rPr lang="en-US" sz="1519" spc="31" kern="0" dirty="0" smtClean="0">
                <a:solidFill>
                  <a:srgbClr val="ffffff">
                    <a:alpha val="80000"/>
                  </a:srgbClr>
                </a:solidFill>
                <a:latin typeface="Lato" pitchFamily="34" charset="0"/>
                <a:ea typeface="Lato" pitchFamily="34" charset="-122"/>
                <a:cs typeface="Lato" pitchFamily="34" charset="-120"/>
              </a:rPr>
              <a:t>By contributing to Spain's broader climate objectives under the PNIEC (Plan Nacional Integrado de Energía y Clima), which calls for a 32% cut in greenhouse gas emissions by 2030 and massive adoption of renewables and storage, the project further solidifies Repsol's role as a leader in Spain's energy transition.</a:t>
            </a:r>
            <a:endParaRPr lang="en-US" dirty="0"/>
          </a:p>
        </p:txBody>
      </p:sp>
    </p:spTree>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0309"/>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52244"/>
            <a:ext cx="6561084" cy="1066533"/>
          </a:xfrm>
          <a:prstGeom prst="rect">
            <a:avLst/>
          </a:prstGeom>
        </p:spPr>
      </p:pic>
      <p:sp>
        <p:nvSpPr>
          <p:cNvPr id="3" name="Object 2"/>
          <p:cNvSpPr/>
          <p:nvPr/>
        </p:nvSpPr>
        <p:spPr>
          <a:xfrm>
            <a:off x="476131" y="313552"/>
            <a:ext cx="12188952" cy="329026"/>
          </a:xfrm>
          <a:prstGeom prst="rect">
            <a:avLst/>
          </a:prstGeom>
          <a:noFill/>
        </p:spPr>
        <p:txBody>
          <a:bodyPr wrap="square" rtlCol="0" anchor="t" bIns="0" lIns="0" rIns="0" tIns="0"/>
          <a:lstStyle/>
          <a:p>
            <a:pPr algn="l">
              <a:lnSpc>
                <a:spcPts val="2592"/>
              </a:lnSpc>
              <a:buNone/>
            </a:pPr>
            <a:r>
              <a:rPr lang="en-US" b="1" sz="2250" spc="22" kern="0" dirty="0" smtClean="0">
                <a:solidFill>
                  <a:srgbClr val="ffffff"/>
                </a:solidFill>
                <a:latin typeface="Lato" pitchFamily="34" charset="0"/>
                <a:ea typeface="Lato" pitchFamily="34" charset="-122"/>
                <a:cs typeface="Lato" pitchFamily="34" charset="-120"/>
              </a:rPr>
              <a:t>ENVIRONMENTAL AND SOCIAL IMPACT</a:t>
            </a:r>
            <a:endParaRPr lang="en-US" dirty="0"/>
          </a:p>
        </p:txBody>
      </p:sp>
      <p:sp>
        <p:nvSpPr>
          <p:cNvPr id="4" name="Object 3"/>
          <p:cNvSpPr/>
          <p:nvPr/>
        </p:nvSpPr>
        <p:spPr>
          <a:xfrm>
            <a:off x="2237815" y="2998335"/>
            <a:ext cx="8484653" cy="1818225"/>
          </a:xfrm>
          <a:prstGeom prst="rect">
            <a:avLst/>
          </a:prstGeom>
          <a:noFill/>
        </p:spPr>
        <p:txBody>
          <a:bodyPr wrap="square" rtlCol="0" anchor="t" bIns="0" lIns="0" rIns="0" tIns="0"/>
          <a:lstStyle/>
          <a:p>
            <a:pPr algn="l" marL="242900" indent="-242900">
              <a:lnSpc>
                <a:spcPts val="3324"/>
              </a:lnSpc>
              <a:buSzPct val="100000"/>
              <a:buChar char="•"/>
            </a:pPr>
            <a:r>
              <a:rPr lang="en-US" sz="2430" spc="49" kern="0" dirty="0" smtClean="0">
                <a:solidFill>
                  <a:srgbClr val="ffffff"/>
                </a:solidFill>
                <a:latin typeface="Lato" pitchFamily="34" charset="0"/>
                <a:ea typeface="Lato" pitchFamily="34" charset="-122"/>
                <a:cs typeface="Lato" pitchFamily="34" charset="-120"/>
              </a:rPr>
              <a:t>Increased renewable energy utilization</a:t>
            </a:r>
          </a:p>
          <a:p>
            <a:pPr algn="l" marL="242900" indent="-242900">
              <a:lnSpc>
                <a:spcPts val="3324"/>
              </a:lnSpc>
              <a:spcBef>
                <a:spcPts val="2132"/>
              </a:spcBef>
              <a:buSzPct val="100000"/>
              <a:buChar char="•"/>
            </a:pPr>
            <a:r>
              <a:rPr lang="en-US" sz="2430" spc="49" kern="0" dirty="0" smtClean="0">
                <a:solidFill>
                  <a:srgbClr val="ffffff"/>
                </a:solidFill>
                <a:latin typeface="Lato" pitchFamily="34" charset="0"/>
                <a:ea typeface="Lato" pitchFamily="34" charset="-122"/>
                <a:cs typeface="Lato" pitchFamily="34" charset="-120"/>
              </a:rPr>
              <a:t>Reduced CO₂ emissions</a:t>
            </a:r>
          </a:p>
          <a:p>
            <a:pPr algn="l" marL="242900" indent="-242900">
              <a:lnSpc>
                <a:spcPts val="3324"/>
              </a:lnSpc>
              <a:spcBef>
                <a:spcPts val="2132"/>
              </a:spcBef>
              <a:buSzPct val="100000"/>
              <a:buChar char="•"/>
            </a:pPr>
            <a:r>
              <a:rPr lang="en-US" sz="2430" spc="49" kern="0" dirty="0" smtClean="0">
                <a:solidFill>
                  <a:srgbClr val="ffffff"/>
                </a:solidFill>
                <a:latin typeface="Lato" pitchFamily="34" charset="0"/>
                <a:ea typeface="Lato" pitchFamily="34" charset="-122"/>
                <a:cs typeface="Lato" pitchFamily="34" charset="-120"/>
              </a:rPr>
              <a:t>Lower grid load</a:t>
            </a:r>
            <a:endParaRPr lang="en-US" dirty="0"/>
          </a:p>
        </p:txBody>
      </p:sp>
    </p:spTree>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0309"/>
        </a:solidFill>
        <a:effectLst/>
      </p:bgPr>
    </p:bg>
    <p:spTree>
      <p:nvGrpSpPr>
        <p:cNvPr id="1" name=""/>
        <p:cNvGrpSpPr/>
        <p:nvPr/>
      </p:nvGrpSpPr>
      <p:grpSpPr>
        <a:xfrm>
          <a:off x="0" y="0"/>
          <a:ext cx="0" cy="0"/>
          <a:chOff x="0" y="0"/>
          <a:chExt cx="0" cy="0"/>
        </a:xfrm>
      </p:grpSpPr>
      <p:pic>
        <p:nvPicPr>
          <p:cNvPr id="2" name="Object 1" desc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52244"/>
            <a:ext cx="4113771" cy="1066533"/>
          </a:xfrm>
          <a:prstGeom prst="rect">
            <a:avLst/>
          </a:prstGeom>
        </p:spPr>
      </p:pic>
      <p:sp>
        <p:nvSpPr>
          <p:cNvPr id="3" name="Object 2"/>
          <p:cNvSpPr/>
          <p:nvPr/>
        </p:nvSpPr>
        <p:spPr>
          <a:xfrm>
            <a:off x="476131" y="313552"/>
            <a:ext cx="12188952" cy="329026"/>
          </a:xfrm>
          <a:prstGeom prst="rect">
            <a:avLst/>
          </a:prstGeom>
          <a:noFill/>
        </p:spPr>
        <p:txBody>
          <a:bodyPr wrap="square" rtlCol="0" anchor="t" bIns="0" lIns="0" rIns="0" tIns="0"/>
          <a:lstStyle/>
          <a:p>
            <a:pPr algn="l">
              <a:lnSpc>
                <a:spcPts val="2592"/>
              </a:lnSpc>
              <a:buNone/>
            </a:pPr>
            <a:r>
              <a:rPr lang="en-US" b="1" sz="2250" spc="22" kern="0" dirty="0" smtClean="0">
                <a:solidFill>
                  <a:srgbClr val="ffffff"/>
                </a:solidFill>
                <a:latin typeface="Lato" pitchFamily="34" charset="0"/>
                <a:ea typeface="Lato" pitchFamily="34" charset="-122"/>
                <a:cs typeface="Lato" pitchFamily="34" charset="-120"/>
              </a:rPr>
              <a:t>RECOMMENDATIONS</a:t>
            </a:r>
            <a:endParaRPr lang="en-US" dirty="0"/>
          </a:p>
        </p:txBody>
      </p:sp>
      <p:pic>
        <p:nvPicPr>
          <p:cNvPr id="4" name="Object 3" descr="">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3189" y="1723594"/>
            <a:ext cx="10598675" cy="1047488"/>
          </a:xfrm>
          <a:prstGeom prst="rect">
            <a:avLst/>
          </a:prstGeom>
        </p:spPr>
      </p:pic>
      <p:pic>
        <p:nvPicPr>
          <p:cNvPr id="5" name="Object 4" descr="">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23" y="1160236"/>
            <a:ext cx="1161759" cy="1514096"/>
          </a:xfrm>
          <a:prstGeom prst="rect">
            <a:avLst/>
          </a:prstGeom>
        </p:spPr>
      </p:pic>
      <p:sp>
        <p:nvSpPr>
          <p:cNvPr id="6" name="Object 5"/>
          <p:cNvSpPr/>
          <p:nvPr/>
        </p:nvSpPr>
        <p:spPr>
          <a:xfrm>
            <a:off x="1333167" y="2053017"/>
            <a:ext cx="10570107" cy="356404"/>
          </a:xfrm>
          <a:prstGeom prst="rect">
            <a:avLst/>
          </a:prstGeom>
          <a:noFill/>
        </p:spPr>
        <p:txBody>
          <a:bodyPr wrap="square" rtlCol="0" anchor="ctr" bIns="0" lIns="0" rIns="0" tIns="0"/>
          <a:lstStyle/>
          <a:p>
            <a:pPr algn="l">
              <a:lnSpc>
                <a:spcPts val="2807"/>
              </a:lnSpc>
              <a:buNone/>
            </a:pPr>
            <a:r>
              <a:rPr lang="en-US" sz="2052" spc="41" kern="0" dirty="0" smtClean="0">
                <a:solidFill>
                  <a:srgbClr val="ffffff"/>
                </a:solidFill>
                <a:latin typeface="Lato" pitchFamily="34" charset="0"/>
                <a:ea typeface="Lato" pitchFamily="34" charset="-122"/>
                <a:cs typeface="Lato" pitchFamily="34" charset="-120"/>
              </a:rPr>
              <a:t>Optimized Scheduling</a:t>
            </a:r>
            <a:endParaRPr lang="en-US" dirty="0"/>
          </a:p>
        </p:txBody>
      </p:sp>
      <p:pic>
        <p:nvPicPr>
          <p:cNvPr id="7" name="Object 6" descr="">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3189" y="2837741"/>
            <a:ext cx="6970557" cy="1037965"/>
          </a:xfrm>
          <a:prstGeom prst="rect">
            <a:avLst/>
          </a:prstGeom>
        </p:spPr>
      </p:pic>
      <p:pic>
        <p:nvPicPr>
          <p:cNvPr id="8" name="Object 7" descr="">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23" y="2626243"/>
            <a:ext cx="1161759" cy="1161759"/>
          </a:xfrm>
          <a:prstGeom prst="rect">
            <a:avLst/>
          </a:prstGeom>
        </p:spPr>
      </p:pic>
      <p:sp>
        <p:nvSpPr>
          <p:cNvPr id="9" name="Object 8"/>
          <p:cNvSpPr/>
          <p:nvPr/>
        </p:nvSpPr>
        <p:spPr>
          <a:xfrm>
            <a:off x="1333167" y="3167163"/>
            <a:ext cx="6588700" cy="356404"/>
          </a:xfrm>
          <a:prstGeom prst="rect">
            <a:avLst/>
          </a:prstGeom>
          <a:noFill/>
        </p:spPr>
        <p:txBody>
          <a:bodyPr wrap="square" rtlCol="0" anchor="ctr" bIns="0" lIns="0" rIns="0" tIns="0"/>
          <a:lstStyle/>
          <a:p>
            <a:pPr algn="l">
              <a:lnSpc>
                <a:spcPts val="2807"/>
              </a:lnSpc>
              <a:buNone/>
            </a:pPr>
            <a:r>
              <a:rPr lang="en-US" sz="2052" spc="41" kern="0" dirty="0" smtClean="0">
                <a:solidFill>
                  <a:srgbClr val="ffffff"/>
                </a:solidFill>
                <a:latin typeface="Lato" pitchFamily="34" charset="0"/>
                <a:ea typeface="Lato" pitchFamily="34" charset="-122"/>
                <a:cs typeface="Lato" pitchFamily="34" charset="-120"/>
              </a:rPr>
              <a:t>Maintenance and Monitoring</a:t>
            </a:r>
            <a:endParaRPr lang="en-US" dirty="0"/>
          </a:p>
        </p:txBody>
      </p:sp>
      <p:pic>
        <p:nvPicPr>
          <p:cNvPr id="10" name="Object 9" descr="">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33189" y="3951887"/>
            <a:ext cx="3342439" cy="1037965"/>
          </a:xfrm>
          <a:prstGeom prst="rect">
            <a:avLst/>
          </a:prstGeom>
        </p:spPr>
      </p:pic>
      <p:pic>
        <p:nvPicPr>
          <p:cNvPr id="11" name="Object 10" descr="">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523" y="4047114"/>
            <a:ext cx="1161759" cy="1161759"/>
          </a:xfrm>
          <a:prstGeom prst="rect">
            <a:avLst/>
          </a:prstGeom>
        </p:spPr>
      </p:pic>
      <p:sp>
        <p:nvSpPr>
          <p:cNvPr id="12" name="Object 11"/>
          <p:cNvSpPr/>
          <p:nvPr/>
        </p:nvSpPr>
        <p:spPr>
          <a:xfrm>
            <a:off x="1333167" y="4105141"/>
            <a:ext cx="2597880" cy="712808"/>
          </a:xfrm>
          <a:prstGeom prst="rect">
            <a:avLst/>
          </a:prstGeom>
          <a:noFill/>
        </p:spPr>
        <p:txBody>
          <a:bodyPr wrap="square" rtlCol="0" anchor="ctr" bIns="0" lIns="0" rIns="0" tIns="0"/>
          <a:lstStyle/>
          <a:p>
            <a:pPr algn="l">
              <a:lnSpc>
                <a:spcPts val="2807"/>
              </a:lnSpc>
              <a:buNone/>
            </a:pPr>
            <a:r>
              <a:rPr lang="en-US" sz="2052" spc="41" kern="0" dirty="0" smtClean="0">
                <a:solidFill>
                  <a:srgbClr val="ffffff"/>
                </a:solidFill>
                <a:latin typeface="Lato" pitchFamily="34" charset="0"/>
                <a:ea typeface="Lato" pitchFamily="34" charset="-122"/>
                <a:cs typeface="Lato" pitchFamily="34" charset="-120"/>
              </a:rPr>
              <a:t>Investment Decisions</a:t>
            </a:r>
            <a:endParaRPr lang="en-US" dirty="0"/>
          </a:p>
        </p:txBody>
      </p:sp>
      <p:pic>
        <p:nvPicPr>
          <p:cNvPr id="13" name="Object 12" descr="">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33189" y="5066033"/>
            <a:ext cx="6970557" cy="1047488"/>
          </a:xfrm>
          <a:prstGeom prst="rect">
            <a:avLst/>
          </a:prstGeom>
        </p:spPr>
      </p:pic>
      <p:pic>
        <p:nvPicPr>
          <p:cNvPr id="14" name="Object 13" descr="">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23" y="5161259"/>
            <a:ext cx="1161759" cy="1514096"/>
          </a:xfrm>
          <a:prstGeom prst="rect">
            <a:avLst/>
          </a:prstGeom>
        </p:spPr>
      </p:pic>
      <p:sp>
        <p:nvSpPr>
          <p:cNvPr id="15" name="Object 14"/>
          <p:cNvSpPr/>
          <p:nvPr/>
        </p:nvSpPr>
        <p:spPr>
          <a:xfrm>
            <a:off x="1333167" y="5395456"/>
            <a:ext cx="6588700" cy="356404"/>
          </a:xfrm>
          <a:prstGeom prst="rect">
            <a:avLst/>
          </a:prstGeom>
          <a:noFill/>
        </p:spPr>
        <p:txBody>
          <a:bodyPr wrap="square" rtlCol="0" anchor="ctr" bIns="0" lIns="0" rIns="0" tIns="0"/>
          <a:lstStyle/>
          <a:p>
            <a:pPr algn="l">
              <a:lnSpc>
                <a:spcPts val="2807"/>
              </a:lnSpc>
              <a:buNone/>
            </a:pPr>
            <a:r>
              <a:rPr lang="en-US" sz="2052" spc="41" kern="0" dirty="0" smtClean="0">
                <a:solidFill>
                  <a:srgbClr val="ffffff"/>
                </a:solidFill>
                <a:latin typeface="Lato" pitchFamily="34" charset="0"/>
                <a:ea typeface="Lato" pitchFamily="34" charset="-122"/>
                <a:cs typeface="Lato" pitchFamily="34" charset="-120"/>
              </a:rPr>
              <a:t>Leverage Government Incentives</a:t>
            </a:r>
            <a:endParaRPr lang="en-US" dirty="0"/>
          </a:p>
        </p:txBody>
      </p:sp>
    </p:spTree>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0309"/>
        </a:solidFill>
        <a:effectLst/>
      </p:bgPr>
    </p:bg>
    <p:spTree>
      <p:nvGrpSpPr>
        <p:cNvPr id="1" name=""/>
        <p:cNvGrpSpPr/>
        <p:nvPr/>
      </p:nvGrpSpPr>
      <p:grpSpPr>
        <a:xfrm>
          <a:off x="0" y="0"/>
          <a:ext cx="0" cy="0"/>
          <a:chOff x="0" y="0"/>
          <a:chExt cx="0" cy="0"/>
        </a:xfrm>
      </p:grpSpPr>
      <p:sp>
        <p:nvSpPr>
          <p:cNvPr id="2" name="Object 1"/>
          <p:cNvSpPr/>
          <p:nvPr/>
        </p:nvSpPr>
        <p:spPr>
          <a:xfrm>
            <a:off x="476131" y="476131"/>
            <a:ext cx="5955446" cy="5904024"/>
          </a:xfrm>
          <a:prstGeom prst="rect">
            <a:avLst/>
          </a:prstGeom>
          <a:solidFill>
            <a:srgbClr val="a61e51"/>
          </a:solidFill>
        </p:spPr>
      </p:sp>
      <p:pic>
        <p:nvPicPr>
          <p:cNvPr id="3" name="Object 2" descr="Optimizing solar power generation and battery usage for sustainability">    </p:cNvPr>
          <p:cNvPicPr>
            <a:picLocks noChangeAspect="1"/>
          </p:cNvPicPr>
          <p:nvPr/>
        </p:nvPicPr>
        <p:blipFill>
          <a:blip r:embed="rId1"/>
          <a:srcRect l="10509" r="10509" t="0" b="0"/>
          <a:stretch/>
        </p:blipFill>
        <p:spPr>
          <a:xfrm>
            <a:off x="476131" y="476131"/>
            <a:ext cx="5955446" cy="5904024"/>
          </a:xfrm>
          <a:prstGeom prst="rect">
            <a:avLst/>
          </a:prstGeom>
        </p:spPr>
      </p:pic>
      <p:sp>
        <p:nvSpPr>
          <p:cNvPr id="4" name="Object 3"/>
          <p:cNvSpPr/>
          <p:nvPr/>
        </p:nvSpPr>
        <p:spPr>
          <a:xfrm>
            <a:off x="7118614" y="1227723"/>
            <a:ext cx="4383301" cy="987079"/>
          </a:xfrm>
          <a:prstGeom prst="rect">
            <a:avLst/>
          </a:prstGeom>
          <a:noFill/>
        </p:spPr>
        <p:txBody>
          <a:bodyPr wrap="square" rtlCol="0" anchor="ctr" bIns="0" lIns="0" rIns="0" tIns="0"/>
          <a:lstStyle/>
          <a:p>
            <a:pPr algn="ctr">
              <a:lnSpc>
                <a:spcPts val="2592"/>
              </a:lnSpc>
              <a:buNone/>
            </a:pPr>
            <a:r>
              <a:rPr lang="en-US" b="1" sz="2250" spc="22" kern="0" dirty="0" smtClean="0">
                <a:solidFill>
                  <a:srgbClr val="ffffff"/>
                </a:solidFill>
                <a:latin typeface="Lato" pitchFamily="34" charset="0"/>
                <a:ea typeface="Lato" pitchFamily="34" charset="-122"/>
                <a:cs typeface="Lato" pitchFamily="34" charset="-120"/>
              </a:rPr>
              <a:t>OPTIMIZING SOLAR POWER GENERATION AND BATTERY USAGE FOR SUSTAINABILITY</a:t>
            </a:r>
            <a:endParaRPr lang="en-US" dirty="0"/>
          </a:p>
        </p:txBody>
      </p:sp>
      <p:sp>
        <p:nvSpPr>
          <p:cNvPr id="5" name="Object 4"/>
          <p:cNvSpPr/>
          <p:nvPr/>
        </p:nvSpPr>
        <p:spPr>
          <a:xfrm>
            <a:off x="6691544" y="2366272"/>
            <a:ext cx="5237440" cy="3258124"/>
          </a:xfrm>
          <a:prstGeom prst="rect">
            <a:avLst/>
          </a:prstGeom>
          <a:noFill/>
        </p:spPr>
        <p:txBody>
          <a:bodyPr wrap="square" rtlCol="0" anchor="ctr" bIns="0" lIns="0" rIns="0" tIns="0"/>
          <a:lstStyle/>
          <a:p>
            <a:pPr algn="ctr">
              <a:lnSpc>
                <a:spcPts val="2333"/>
              </a:lnSpc>
              <a:spcBef>
                <a:spcPts val="1170"/>
              </a:spcBef>
              <a:buNone/>
            </a:pPr>
            <a:r>
              <a:rPr lang="en-US" sz="1620" spc="32" kern="0" dirty="0" smtClean="0">
                <a:solidFill>
                  <a:srgbClr val="ffffff">
                    <a:alpha val="80000"/>
                  </a:srgbClr>
                </a:solidFill>
                <a:latin typeface="Lato" pitchFamily="34" charset="0"/>
                <a:ea typeface="Lato" pitchFamily="34" charset="-122"/>
                <a:cs typeface="Lato" pitchFamily="34" charset="-120"/>
              </a:rPr>
              <a:t>The successful optimization of solar power generation and battery usage at Repsol's industrial plant showcases the potential for industrial facilities to enhance their sustainability and reduce their environmental impact. By accurately forecasting solar generation, optimizing battery storage, and quantifying emissions avoided, Repsol can scale this model to its other sites, contributing to the company's decarbonization goals and reinforcing its leadership in Spain's energy transition.</a:t>
            </a:r>
            <a:endParaRPr lang="en-US" dirty="0"/>
          </a:p>
        </p:txBody>
      </p:sp>
    </p:spTree>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file>

<file path=ppt/tags/tag2.xml><?xml version="1.0" encoding="utf-8"?>
<p:tagLst xmlns:a="http://schemas.openxmlformats.org/drawingml/2006/main" xmlns:r="http://schemas.openxmlformats.org/officeDocument/2006/relationships" xmlns:p="http://schemas.openxmlformats.org/presentationml/2006/main"/>
</file>

<file path=ppt/tags/tag3.xml><?xml version="1.0" encoding="utf-8"?>
<p:tagLst xmlns:a="http://schemas.openxmlformats.org/drawingml/2006/main" xmlns:r="http://schemas.openxmlformats.org/officeDocument/2006/relationships" xmlns:p="http://schemas.openxmlformats.org/presentationml/2006/main"/>
</file>

<file path=ppt/tags/tag4.xml><?xml version="1.0" encoding="utf-8"?>
<p:tagLst xmlns:a="http://schemas.openxmlformats.org/drawingml/2006/main" xmlns:r="http://schemas.openxmlformats.org/officeDocument/2006/relationships" xmlns:p="http://schemas.openxmlformats.org/presentationml/2006/main"/>
</file>

<file path=ppt/tags/tag5.xml><?xml version="1.0" encoding="utf-8"?>
<p:tagLst xmlns:a="http://schemas.openxmlformats.org/drawingml/2006/main" xmlns:r="http://schemas.openxmlformats.org/officeDocument/2006/relationships" xmlns:p="http://schemas.openxmlformats.org/presentationml/2006/main"/>
</file>

<file path=ppt/tags/tag6.xml><?xml version="1.0" encoding="utf-8"?>
<p:tagLst xmlns:a="http://schemas.openxmlformats.org/drawingml/2006/main" xmlns:r="http://schemas.openxmlformats.org/officeDocument/2006/relationships" xmlns:p="http://schemas.openxmlformats.org/presentationml/2006/main"/>
</file>

<file path=ppt/tags/tag7.xml><?xml version="1.0" encoding="utf-8"?>
<p:tagLst xmlns:a="http://schemas.openxmlformats.org/drawingml/2006/main" xmlns:r="http://schemas.openxmlformats.org/officeDocument/2006/relationships" xmlns:p="http://schemas.openxmlformats.org/presentationml/2006/main"/>
</file>

<file path=ppt/tags/tag8.xml><?xml version="1.0" encoding="utf-8"?>
<p:tagLst xmlns:a="http://schemas.openxmlformats.org/drawingml/2006/main" xmlns:r="http://schemas.openxmlformats.org/officeDocument/2006/relationships" xmlns:p="http://schemas.openxmlformats.org/presentationml/2006/main"/>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Slide 1</vt:lpstr>
      <vt:lpstr>Slide 2</vt:lpstr>
      <vt:lpstr>Slide 3</vt:lpstr>
      <vt:lpstr>Slide 4</vt:lpstr>
      <vt:lpstr>Slide 5</vt:lpstr>
      <vt:lpstr>Slide 6</vt:lpstr>
      <vt:lpstr>Slide 7</vt:lpstr>
      <vt:lpstr>Slide 8</vt:lpstr>
    </vt:vector>
  </TitlesOfParts>
  <Company>Beautiful.ai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Solar Power Generation and Battery Usage for Sustainability</dc:title>
  <dc:subject>Optimizing Solar Power Generation and Battery Usage for Sustainability</dc:subject>
  <dc:creator>Pablo Eduardo Gallegos</dc:creator>
  <cp:lastModifiedBy>Pablo Eduardo Gallegos</cp:lastModifiedBy>
  <cp:revision>1</cp:revision>
  <dcterms:created xsi:type="dcterms:W3CDTF">2025-03-28T09:12:27.626Z</dcterms:created>
  <dcterms:modified xsi:type="dcterms:W3CDTF">2025-03-28T09:12:27.626Z</dcterms:modified>
</cp:coreProperties>
</file>